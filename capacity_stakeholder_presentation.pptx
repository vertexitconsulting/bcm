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6" r:id="rId4"/>
    <p:sldId id="259" r:id="rId5"/>
    <p:sldId id="263" r:id="rId6"/>
    <p:sldId id="267" r:id="rId7"/>
    <p:sldId id="265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BEDDC-8EA4-4833-AEAF-A4F4594F74C7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F2E77-3327-4E8E-BB7F-8B647F311D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2619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F2E77-3327-4E8E-BB7F-8B647F311D8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9524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BCM</a:t>
            </a:r>
            <a:r>
              <a:rPr dirty="0"/>
              <a:t> Integration </a:t>
            </a:r>
            <a:r>
              <a:rPr lang="en-GB" dirty="0"/>
              <a:t>PoC</a:t>
            </a:r>
            <a:endParaRPr dirty="0"/>
          </a:p>
        </p:txBody>
      </p:sp>
      <p:pic>
        <p:nvPicPr>
          <p:cNvPr id="5" name="Content Placeholder 4" descr="The image is a form with fields for inputting various details about a test run, such as the tool used, run ID, date, duration, and observability source.&#10;&#10;AI-generated content may be incorrect.">
            <a:extLst>
              <a:ext uri="{FF2B5EF4-FFF2-40B4-BE49-F238E27FC236}">
                <a16:creationId xmlns:a16="http://schemas.microsoft.com/office/drawing/2014/main" id="{9ABC67B5-5EE1-DCE0-3DF1-E28F46CF0A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5321" y="1600200"/>
            <a:ext cx="5796951" cy="48178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- Time consuming manual lookups from multiple systems</a:t>
            </a:r>
          </a:p>
          <a:p>
            <a:r>
              <a:rPr lang="en-GB" dirty="0"/>
              <a:t>- Lack of confidence in data</a:t>
            </a:r>
          </a:p>
          <a:p>
            <a:r>
              <a:rPr dirty="0"/>
              <a:t>- Inconsistent capacity </a:t>
            </a:r>
            <a:r>
              <a:rPr lang="en-GB" dirty="0"/>
              <a:t>entries</a:t>
            </a:r>
            <a:endParaRPr dirty="0"/>
          </a:p>
          <a:p>
            <a:r>
              <a:rPr dirty="0"/>
              <a:t>- Delayed </a:t>
            </a:r>
            <a:r>
              <a:rPr lang="en-GB" dirty="0"/>
              <a:t>submissions</a:t>
            </a:r>
          </a:p>
          <a:p>
            <a:endParaRPr lang="en-GB" dirty="0"/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Proposed – </a:t>
            </a:r>
            <a:r>
              <a:rPr dirty="0"/>
              <a:t>E</a:t>
            </a:r>
            <a:r>
              <a:rPr lang="en-GB" dirty="0"/>
              <a:t>2E</a:t>
            </a:r>
            <a:r>
              <a:rPr dirty="0"/>
              <a:t>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286000" cy="914400"/>
          </a:xfrm>
          <a:prstGeom prst="round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UI Layer</a:t>
            </a:r>
          </a:p>
          <a:p>
            <a:r>
              <a:t>(TCI Forms)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371600"/>
            <a:ext cx="2286000" cy="914400"/>
          </a:xfrm>
          <a:prstGeom prst="roundRect">
            <a:avLst/>
          </a:prstGeom>
          <a:solidFill>
            <a:srgbClr val="B4D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Integration Layer</a:t>
            </a:r>
          </a:p>
          <a:p>
            <a:r>
              <a:rPr dirty="0"/>
              <a:t>(API Orchestration)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371600"/>
            <a:ext cx="2286000" cy="914400"/>
          </a:xfrm>
          <a:prstGeom prst="roundRect">
            <a:avLst/>
          </a:prstGeom>
          <a:solidFill>
            <a:srgbClr val="F0D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Data Layer</a:t>
            </a:r>
          </a:p>
          <a:p>
            <a:r>
              <a:rPr dirty="0"/>
              <a:t>(</a:t>
            </a:r>
            <a:r>
              <a:rPr lang="en-GB" dirty="0"/>
              <a:t>Integration Data</a:t>
            </a:r>
            <a:r>
              <a:rPr dirty="0"/>
              <a:t> Store)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2286000" cy="914400"/>
          </a:xfrm>
          <a:prstGeom prst="roundRect">
            <a:avLst/>
          </a:prstGeom>
          <a:solidFill>
            <a:srgbClr val="DC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User Actions</a:t>
            </a:r>
          </a:p>
          <a:p>
            <a:r>
              <a:rPr dirty="0"/>
              <a:t>Approve/Override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743200"/>
            <a:ext cx="2286000" cy="914400"/>
          </a:xfrm>
          <a:prstGeom prst="roundRect">
            <a:avLst/>
          </a:prstGeom>
          <a:solidFill>
            <a:srgbClr val="C8F0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Policy Engine</a:t>
            </a:r>
          </a:p>
          <a:p>
            <a:r>
              <a:rPr dirty="0"/>
              <a:t>(Window Logic)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743200"/>
            <a:ext cx="2286000" cy="914400"/>
          </a:xfrm>
          <a:prstGeom prst="roundRect">
            <a:avLst/>
          </a:prstGeom>
          <a:solidFill>
            <a:srgbClr val="FFE6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Audit Module</a:t>
            </a:r>
          </a:p>
          <a:p>
            <a:r>
              <a:t>(External)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4114800"/>
            <a:ext cx="2286000" cy="914400"/>
          </a:xfrm>
          <a:prstGeom prst="roundRect">
            <a:avLst/>
          </a:prstGeom>
          <a:solidFill>
            <a:srgbClr val="E6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Connectors</a:t>
            </a:r>
          </a:p>
          <a:p>
            <a:r>
              <a:t>AppD / Splunk / Test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Integration</a:t>
            </a:r>
            <a:r>
              <a:rPr lang="en-GB" dirty="0"/>
              <a:t> &amp; UI</a:t>
            </a:r>
            <a:r>
              <a:rPr dirty="0"/>
              <a:t>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465717"/>
          </a:xfrm>
          <a:noFill/>
        </p:spPr>
        <p:txBody>
          <a:bodyPr wrap="square">
            <a:spAutoFit/>
          </a:bodyPr>
          <a:lstStyle/>
          <a:p>
            <a:r>
              <a:rPr sz="1800" dirty="0"/>
              <a:t>- Observability adapters (</a:t>
            </a:r>
            <a:r>
              <a:rPr sz="1800" dirty="0" err="1"/>
              <a:t>AppD</a:t>
            </a:r>
            <a:r>
              <a:rPr sz="1800" dirty="0"/>
              <a:t>, Splunk ITSI, Athene)</a:t>
            </a:r>
          </a:p>
          <a:p>
            <a:r>
              <a:rPr sz="1800" dirty="0"/>
              <a:t>- Test tool connectors (OpenText, JMeter, ICE)</a:t>
            </a:r>
          </a:p>
          <a:p>
            <a:r>
              <a:rPr sz="1800" dirty="0"/>
              <a:t>- Data normalization layer</a:t>
            </a:r>
          </a:p>
          <a:p>
            <a:r>
              <a:rPr sz="1800" dirty="0"/>
              <a:t>- UI orchestration service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FC1973-9B26-E1B3-620C-B433D4C64B1C}"/>
              </a:ext>
            </a:extLst>
          </p:cNvPr>
          <p:cNvSpPr txBox="1"/>
          <p:nvPr/>
        </p:nvSpPr>
        <p:spPr>
          <a:xfrm>
            <a:off x="457200" y="3196865"/>
            <a:ext cx="77551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- Source Selection Panel (tool + run)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- Populate TCIs on Change of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- Inline editing &amp; override controls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- Source provenance tracking for effectiveness &amp; confidence measurement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5825F59-6772-6047-8B9D-EF2A1CAC87D2}"/>
              </a:ext>
            </a:extLst>
          </p:cNvPr>
          <p:cNvSpPr txBox="1">
            <a:spLocks/>
          </p:cNvSpPr>
          <p:nvPr/>
        </p:nvSpPr>
        <p:spPr>
          <a:xfrm>
            <a:off x="457200" y="4813541"/>
            <a:ext cx="8229600" cy="1366528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342900" indent="-342900">
              <a:spcBef>
                <a:spcPct val="20000"/>
              </a:spcBef>
              <a:buFont typeface="Arial"/>
              <a:buChar char="•"/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en-GB" dirty="0"/>
              <a:t>- Testing Compliance (policy-based)</a:t>
            </a:r>
          </a:p>
          <a:p>
            <a:r>
              <a:rPr lang="en-GB" dirty="0"/>
              <a:t>- Observability Compliance</a:t>
            </a:r>
          </a:p>
          <a:p>
            <a:r>
              <a:rPr lang="en-GB" dirty="0"/>
              <a:t>- Real-time status indicators</a:t>
            </a:r>
          </a:p>
          <a:p>
            <a:r>
              <a:rPr lang="en-GB" dirty="0"/>
              <a:t>- Future: Predictive breach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Business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- Faster </a:t>
            </a:r>
            <a:r>
              <a:rPr lang="en-GB" dirty="0"/>
              <a:t>submission</a:t>
            </a:r>
            <a:endParaRPr dirty="0"/>
          </a:p>
          <a:p>
            <a:r>
              <a:rPr dirty="0"/>
              <a:t>- Improved data accuracy</a:t>
            </a:r>
          </a:p>
          <a:p>
            <a:r>
              <a:rPr dirty="0"/>
              <a:t>- </a:t>
            </a:r>
            <a:r>
              <a:rPr lang="en-GB" dirty="0"/>
              <a:t>Multi pillar data population</a:t>
            </a:r>
          </a:p>
          <a:p>
            <a:r>
              <a:rPr lang="en-GB" dirty="0"/>
              <a:t>- Potentially populate  BCIs*</a:t>
            </a:r>
          </a:p>
          <a:p>
            <a:r>
              <a:rPr lang="en-GB" dirty="0"/>
              <a:t>- Plug-and-play connectors</a:t>
            </a:r>
          </a:p>
          <a:p>
            <a:r>
              <a:rPr lang="en-GB" dirty="0"/>
              <a:t>- Multi-tool support</a:t>
            </a:r>
          </a:p>
          <a:p>
            <a:r>
              <a:rPr lang="en-GB" dirty="0"/>
              <a:t>- Scalable data model</a:t>
            </a:r>
          </a:p>
          <a:p>
            <a:r>
              <a:rPr lang="en-GB" dirty="0"/>
              <a:t>- Future AI/ML integration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81A35-959B-34CC-649F-EEE12E3B9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5F37D-0218-2B4D-16EE-AB444EA28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BCI data can be very complex to aggregate</a:t>
            </a:r>
          </a:p>
          <a:p>
            <a:r>
              <a:rPr lang="en-GB" dirty="0"/>
              <a:t>Risks around rework when migrating to Splunk ITSI</a:t>
            </a:r>
          </a:p>
          <a:p>
            <a:r>
              <a:rPr lang="en-GB" dirty="0"/>
              <a:t>Testing time and Edge cases. </a:t>
            </a:r>
          </a:p>
        </p:txBody>
      </p:sp>
    </p:spTree>
    <p:extLst>
      <p:ext uri="{BB962C8B-B14F-4D97-AF65-F5344CB8AC3E}">
        <p14:creationId xmlns:p14="http://schemas.microsoft.com/office/powerpoint/2010/main" val="1957781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Demo Working PoC</a:t>
            </a:r>
            <a:r>
              <a:rPr dirty="0"/>
              <a:t> </a:t>
            </a:r>
            <a:r>
              <a:rPr lang="en-GB" dirty="0"/>
              <a:t>on </a:t>
            </a:r>
            <a:r>
              <a:rPr lang="en-GB" dirty="0" err="1"/>
              <a:t>AppD</a:t>
            </a:r>
            <a:r>
              <a:rPr lang="en-GB" dirty="0"/>
              <a:t> &amp; Perf Testing</a:t>
            </a:r>
          </a:p>
          <a:p>
            <a:r>
              <a:rPr lang="en-GB" dirty="0"/>
              <a:t>Gather feedback from GBI Champs &amp; ITSOs</a:t>
            </a:r>
          </a:p>
          <a:p>
            <a:r>
              <a:rPr lang="en-GB" dirty="0"/>
              <a:t>Produce an implementation Roadmap</a:t>
            </a:r>
          </a:p>
          <a:p>
            <a:r>
              <a:rPr lang="en-GB" dirty="0"/>
              <a:t>Sizing and Sprint planning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242</Words>
  <Application>Microsoft Office PowerPoint</Application>
  <PresentationFormat>On-screen Show (4:3)</PresentationFormat>
  <Paragraphs>53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BCM Integration PoC</vt:lpstr>
      <vt:lpstr>Problem Statement</vt:lpstr>
      <vt:lpstr>Proposed – E2E Architecture</vt:lpstr>
      <vt:lpstr>Key Integration &amp; UI Components</vt:lpstr>
      <vt:lpstr>Business Benefits</vt:lpstr>
      <vt:lpstr>Challenges</vt:lpstr>
      <vt:lpstr>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Mansoor Vali</cp:lastModifiedBy>
  <cp:revision>3</cp:revision>
  <dcterms:created xsi:type="dcterms:W3CDTF">2013-01-27T09:14:16Z</dcterms:created>
  <dcterms:modified xsi:type="dcterms:W3CDTF">2026-03-27T14:37:10Z</dcterms:modified>
  <cp:category/>
</cp:coreProperties>
</file>